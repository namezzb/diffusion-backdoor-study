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07a1ea8b64830" /><Relationship Type="http://schemas.openxmlformats.org/officeDocument/2006/relationships/extended-properties" Target="/docProps/app.xml" Id="R8550629f97724758" /><Relationship Type="http://schemas.openxmlformats.org/officeDocument/2006/relationships/officeDocument" Target="/ppt/presentation.xml" Id="R636f1a77929940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2e0e97ca5c4aa0"/>
  </p:sldMasterIdLst>
  <p:notesMasterIdLst>
    <p:notesMasterId xmlns:r="http://schemas.openxmlformats.org/officeDocument/2006/relationships" r:id="Rbea4f450358c4330"/>
  </p:notesMasterIdLst>
  <p:sldIdLst>
    <p:sldId xmlns:r="http://schemas.openxmlformats.org/officeDocument/2006/relationships" id="256" r:id="R7f6e3a0031644e48"/>
    <p:sldId xmlns:r="http://schemas.openxmlformats.org/officeDocument/2006/relationships" id="257" r:id="R9f61be501ef24d1d"/>
    <p:sldId xmlns:r="http://schemas.openxmlformats.org/officeDocument/2006/relationships" id="258" r:id="R9e12ab25dd094b49"/>
    <p:sldId xmlns:r="http://schemas.openxmlformats.org/officeDocument/2006/relationships" id="259" r:id="Ra65f0887307a4131"/>
    <p:sldId xmlns:r="http://schemas.openxmlformats.org/officeDocument/2006/relationships" id="260" r:id="Ra6063bb9dfaa4fa7"/>
    <p:sldId xmlns:r="http://schemas.openxmlformats.org/officeDocument/2006/relationships" id="261" r:id="R80839cf5d6574d12"/>
    <p:sldId xmlns:r="http://schemas.openxmlformats.org/officeDocument/2006/relationships" id="262" r:id="R2ed40d0629b94c22"/>
    <p:sldId xmlns:r="http://schemas.openxmlformats.org/officeDocument/2006/relationships" id="263" r:id="R76504feb2f1b4744"/>
    <p:sldId xmlns:r="http://schemas.openxmlformats.org/officeDocument/2006/relationships" id="264" r:id="Re6f03f8ba6bf47da"/>
    <p:sldId xmlns:r="http://schemas.openxmlformats.org/officeDocument/2006/relationships" id="265" r:id="R12ecbf1990b04970"/>
    <p:sldId xmlns:r="http://schemas.openxmlformats.org/officeDocument/2006/relationships" id="266" r:id="R9bed338d8d524217"/>
    <p:sldId xmlns:r="http://schemas.openxmlformats.org/officeDocument/2006/relationships" id="267" r:id="Ra59bc23eaf4b45c5"/>
    <p:sldId xmlns:r="http://schemas.openxmlformats.org/officeDocument/2006/relationships" id="268" r:id="Rd792e3f38ddf4ef0"/>
    <p:sldId xmlns:r="http://schemas.openxmlformats.org/officeDocument/2006/relationships" id="269" r:id="Rd11be69d9b4c44dc"/>
    <p:sldId xmlns:r="http://schemas.openxmlformats.org/officeDocument/2006/relationships" id="270" r:id="R19b016f52e234ec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e3f8e2ee1e4938" /><Relationship Type="http://schemas.openxmlformats.org/officeDocument/2006/relationships/slideMaster" Target="/ppt/slideMasters/slideMaster1.xml" Id="R332e0e97ca5c4aa0" /><Relationship Type="http://schemas.openxmlformats.org/officeDocument/2006/relationships/notesMaster" Target="/ppt/notesMasters/notesMaster1.xml" Id="Rbea4f450358c4330" /><Relationship Type="http://schemas.openxmlformats.org/officeDocument/2006/relationships/presProps" Target="/ppt/presProps.xml" Id="R363a77d920a9408c" /><Relationship Type="http://schemas.openxmlformats.org/officeDocument/2006/relationships/viewProps" Target="/ppt/viewProps.xml" Id="R58db0c0a29344d49" /><Relationship Type="http://schemas.openxmlformats.org/officeDocument/2006/relationships/tableStyles" Target="/ppt/tableStyles.xml" Id="R25458bec387a4325" /><Relationship Type="http://schemas.openxmlformats.org/officeDocument/2006/relationships/slide" Target="/ppt/slides/slide1.xml" Id="R7f6e3a0031644e48" /><Relationship Type="http://schemas.openxmlformats.org/officeDocument/2006/relationships/slide" Target="/ppt/slides/slide2.xml" Id="R9f61be501ef24d1d" /><Relationship Type="http://schemas.openxmlformats.org/officeDocument/2006/relationships/slide" Target="/ppt/slides/slide3.xml" Id="R9e12ab25dd094b49" /><Relationship Type="http://schemas.openxmlformats.org/officeDocument/2006/relationships/slide" Target="/ppt/slides/slide4.xml" Id="Ra65f0887307a4131" /><Relationship Type="http://schemas.openxmlformats.org/officeDocument/2006/relationships/slide" Target="/ppt/slides/slide5.xml" Id="Ra6063bb9dfaa4fa7" /><Relationship Type="http://schemas.openxmlformats.org/officeDocument/2006/relationships/slide" Target="/ppt/slides/slide6.xml" Id="R80839cf5d6574d12" /><Relationship Type="http://schemas.openxmlformats.org/officeDocument/2006/relationships/slide" Target="/ppt/slides/slide7.xml" Id="R2ed40d0629b94c22" /><Relationship Type="http://schemas.openxmlformats.org/officeDocument/2006/relationships/slide" Target="/ppt/slides/slide8.xml" Id="R76504feb2f1b4744" /><Relationship Type="http://schemas.openxmlformats.org/officeDocument/2006/relationships/slide" Target="/ppt/slides/slide9.xml" Id="Re6f03f8ba6bf47da" /><Relationship Type="http://schemas.openxmlformats.org/officeDocument/2006/relationships/slide" Target="/ppt/slides/slide10.xml" Id="R12ecbf1990b04970" /><Relationship Type="http://schemas.openxmlformats.org/officeDocument/2006/relationships/slide" Target="/ppt/slides/slide11.xml" Id="R9bed338d8d524217" /><Relationship Type="http://schemas.openxmlformats.org/officeDocument/2006/relationships/slide" Target="/ppt/slides/slide12.xml" Id="Ra59bc23eaf4b45c5" /><Relationship Type="http://schemas.openxmlformats.org/officeDocument/2006/relationships/slide" Target="/ppt/slides/slide13.xml" Id="Rd792e3f38ddf4ef0" /><Relationship Type="http://schemas.openxmlformats.org/officeDocument/2006/relationships/slide" Target="/ppt/slides/slide14.xml" Id="Rd11be69d9b4c44dc" /><Relationship Type="http://schemas.openxmlformats.org/officeDocument/2006/relationships/slide" Target="/ppt/slides/slide15.xml" Id="R19b016f52e234e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4429c6ac2e4f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1da98046c9488f" /><Relationship Type="http://schemas.openxmlformats.org/officeDocument/2006/relationships/notesMaster" Target="/ppt/notesMasters/notesMaster1.xml" Id="Rdc14593259c545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953f3b5e52437c" /><Relationship Type="http://schemas.openxmlformats.org/officeDocument/2006/relationships/notesMaster" Target="/ppt/notesMasters/notesMaster1.xml" Id="Rad93f6fd0d7a42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7495817eef40bf" /><Relationship Type="http://schemas.openxmlformats.org/officeDocument/2006/relationships/notesMaster" Target="/ppt/notesMasters/notesMaster1.xml" Id="R174fbf06dca845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debd401bb84dcd" /><Relationship Type="http://schemas.openxmlformats.org/officeDocument/2006/relationships/notesMaster" Target="/ppt/notesMasters/notesMaster1.xml" Id="R91803ccd838d41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df7d14247b476a" /><Relationship Type="http://schemas.openxmlformats.org/officeDocument/2006/relationships/notesMaster" Target="/ppt/notesMasters/notesMaster1.xml" Id="Rd54e38bbfaed41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b61c0fef4343a7" /><Relationship Type="http://schemas.openxmlformats.org/officeDocument/2006/relationships/notesMaster" Target="/ppt/notesMasters/notesMaster1.xml" Id="R8d654159fee044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960f8f13e7431d" /><Relationship Type="http://schemas.openxmlformats.org/officeDocument/2006/relationships/notesMaster" Target="/ppt/notesMasters/notesMaster1.xml" Id="R6b5272913f7348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bc3acd01b649c3" /><Relationship Type="http://schemas.openxmlformats.org/officeDocument/2006/relationships/notesMaster" Target="/ppt/notesMasters/notesMaster1.xml" Id="Rfafa889445c449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d3d03566854d0e" /><Relationship Type="http://schemas.openxmlformats.org/officeDocument/2006/relationships/notesMaster" Target="/ppt/notesMasters/notesMaster1.xml" Id="Re1847865581b43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b1a40152104406" /><Relationship Type="http://schemas.openxmlformats.org/officeDocument/2006/relationships/notesMaster" Target="/ppt/notesMasters/notesMaster1.xml" Id="R3b537f46dc624a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5f3ed1a8b9444f" /><Relationship Type="http://schemas.openxmlformats.org/officeDocument/2006/relationships/notesMaster" Target="/ppt/notesMasters/notesMaster1.xml" Id="R707e818147514c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540cf7f59a4aef" /><Relationship Type="http://schemas.openxmlformats.org/officeDocument/2006/relationships/notesMaster" Target="/ppt/notesMasters/notesMaster1.xml" Id="Rfad5980eca4248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2d54e00437479f" /><Relationship Type="http://schemas.openxmlformats.org/officeDocument/2006/relationships/notesMaster" Target="/ppt/notesMasters/notesMaster1.xml" Id="R727e1277cfb843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8ffc5cd34343c5" /><Relationship Type="http://schemas.openxmlformats.org/officeDocument/2006/relationships/notesMaster" Target="/ppt/notesMasters/notesMaster1.xml" Id="R1d85e3b5890045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0f4d54ba444cee" /><Relationship Type="http://schemas.openxmlformats.org/officeDocument/2006/relationships/notesMaster" Target="/ppt/notesMasters/notesMaster1.xml" Id="R3d8f0ac1f4d8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bff87a122497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26a1cb39045c7" /><Relationship Type="http://schemas.openxmlformats.org/officeDocument/2006/relationships/slideLayout" Target="/ppt/slideLayouts/slideLayout1.xml" Id="R58eff4ea913d451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eff4ea913d451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b202d693c4c72" /><Relationship Type="http://schemas.openxmlformats.org/officeDocument/2006/relationships/notesSlide" Target="/ppt/notesSlides/notesSlide1.xml" Id="R8fca0b18dab54d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6b892dbbc4897" /><Relationship Type="http://schemas.openxmlformats.org/officeDocument/2006/relationships/notesSlide" Target="/ppt/notesSlides/notesSlide2.xml" Id="R5567e0a6dffb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d7b6dd7ad46bd" /><Relationship Type="http://schemas.openxmlformats.org/officeDocument/2006/relationships/notesSlide" Target="/ppt/notesSlides/notesSlide3.xml" Id="Rdae48600cce94c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5d6d313df4c80" /><Relationship Type="http://schemas.openxmlformats.org/officeDocument/2006/relationships/notesSlide" Target="/ppt/notesSlides/notesSlide4.xml" Id="R628e1c5aa9774b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a373406bf4819" /><Relationship Type="http://schemas.openxmlformats.org/officeDocument/2006/relationships/notesSlide" Target="/ppt/notesSlides/notesSlide5.xml" Id="R7a9a0f0742794a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2f1fbd7d740be" /><Relationship Type="http://schemas.openxmlformats.org/officeDocument/2006/relationships/notesSlide" Target="/ppt/notesSlides/notesSlide6.xml" Id="R15cf48dff78f49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de3576bab4e84" /><Relationship Type="http://schemas.openxmlformats.org/officeDocument/2006/relationships/notesSlide" Target="/ppt/notesSlides/notesSlide7.xml" Id="Ra9747883dc1843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f6a7da4ef4b24" /><Relationship Type="http://schemas.openxmlformats.org/officeDocument/2006/relationships/notesSlide" Target="/ppt/notesSlides/notesSlide8.xml" Id="Rc975c1634ee645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09ab71728475f" /><Relationship Type="http://schemas.openxmlformats.org/officeDocument/2006/relationships/notesSlide" Target="/ppt/notesSlides/notesSlide9.xml" Id="Ra547840c81754e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782a03ee344b9" /><Relationship Type="http://schemas.openxmlformats.org/officeDocument/2006/relationships/notesSlide" Target="/ppt/notesSlides/notesSlide10.xml" Id="R52f0e5667e1a40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80076f65945ee" /><Relationship Type="http://schemas.openxmlformats.org/officeDocument/2006/relationships/notesSlide" Target="/ppt/notesSlides/notesSlide11.xml" Id="Rbc9ff25a6ec945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09cd443204cd1" /><Relationship Type="http://schemas.openxmlformats.org/officeDocument/2006/relationships/notesSlide" Target="/ppt/notesSlides/notesSlide12.xml" Id="Rb7f1406fc70e40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f2f82e04642b5" /><Relationship Type="http://schemas.openxmlformats.org/officeDocument/2006/relationships/notesSlide" Target="/ppt/notesSlides/notesSlide13.xml" Id="Ra6055d4026b64a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d92eed73a4b5d" /><Relationship Type="http://schemas.openxmlformats.org/officeDocument/2006/relationships/notesSlide" Target="/ppt/notesSlides/notesSlide14.xml" Id="R9e90dece220a4b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770346ceb4920" /><Relationship Type="http://schemas.openxmlformats.org/officeDocument/2006/relationships/notesSlide" Target="/ppt/notesSlides/notesSlide15.xml" Id="Rd30b91361b604a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E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D660CA-F708-4695-ACB9-21652BDB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1440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Backdoors Survive the Merge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EABB7F-8731-416B-B104-9E761D9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7863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>
                <a:solidFill>
                  <a:srgbClr val="CADCFC"/>
                </a:solidFill>
                <a:latin typeface="Arial"/>
                <a:ea typeface="Arial"/>
                <a:cs typeface="Arial"/>
              </a:rPr>
              <a:t>扩散模型检查点合并中后门持久性的系统性研究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872EF5-6C5C-4A85-9173-458C0E5F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8288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9926CB-B0CB-4F57-A52D-BE8E5A2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A0BBDD"/>
                </a:solidFill>
                <a:latin typeface="Arial"/>
                <a:ea typeface="Arial"/>
                <a:cs typeface="Arial"/>
              </a:rPr>
              <a:t>研究方向汇报  ·  2026年6月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05CF3E-A5E9-457C-BF3C-FC546211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7BAFD4"/>
                </a:solidFill>
                <a:latin typeface="Arial"/>
                <a:ea typeface="Arial"/>
                <a:cs typeface="Arial"/>
              </a:rPr>
              <a:t>目标会议: USENIX Security / NDSS / CCS</a:t>
            </a:r>
          </a:p>
        </p:txBody>
      </p:sp>
    </p:spTree>
    <p:extLst>
      <p:ext uri="{BB962C8B-B14F-4D97-AF65-F5344CB8AC3E}">
        <p14:creationId xmlns:p14="http://schemas.microsoft.com/office/powerpoint/2010/main" val="15771700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79C0A7-DDB4-4DEA-8367-39A930D6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社区每天数千次模型合并操作，零安全审计——后门可能在合并中扩散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A33D470-5666-488F-B928-41667620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1BDD2E5-15A0-48BC-AEA5-D1C5FEEA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现状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C13F42-434B-4A56-8FE7-3880B9B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8404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CivitAI/HuggingFace: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用户日常合并 SD 检查点生成个性化模型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合并算法: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LERP, SLERP, DARE, TIES, Task Arithmetic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安全审计: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完全不存在——用户信任上传者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52D1CD-6E59-4105-A694-658BDF72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515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威胁场景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6BAF8B-C805-491D-BEAB-96BCF75C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攻击者上传含后门的模型到社区平台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用户下载后与自己的模型合并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合并后的模型是否仍携带后门？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后门是否通过迭代合并扩散到更多模型？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03AEB03-F0DD-4827-A922-CA883311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777777"/>
                </a:solidFill>
                <a:latin typeface="Arial"/>
                <a:ea typeface="Arial"/>
                <a:cs typeface="Arial"/>
              </a:rPr>
              <a:t>CivitAI 统计：2025年单月合并模型超 50,000 个</a:t>
            </a:r>
          </a:p>
        </p:txBody>
      </p:sp>
    </p:spTree>
    <p:extLst>
      <p:ext uri="{BB962C8B-B14F-4D97-AF65-F5344CB8AC3E}">
        <p14:creationId xmlns:p14="http://schemas.microsoft.com/office/powerpoint/2010/main" val="6795857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4D2E60-D1E4-4754-B8CB-58886F97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核心问题：扩散模型后门在检查点合并中的命运是什么？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A67A98-C0B8-4E8B-8D7A-07370E3D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23B8BE3-8C77-4FA0-85BD-8D3EEED0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8720"/>
            <a:ext cx="7315200" cy="16459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2700">
            <a:solidFill>
              <a:srgbClr val="2E75B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4645D4-A1AE-4291-A776-7C1DC954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325880"/>
            <a:ext cx="6766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RQ1: 现有扩散模型后门攻击在经过 LERP/SLERP/DARE/TIES 合并后，ASR 如何衰减？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F67763B-BBB4-403E-8CB3-89548FBE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828800"/>
            <a:ext cx="6766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RQ2: 不同攻击类型（training-based vs training-free）的合并鲁棒性有何差异？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2EB9C11-B0E6-491B-8BEC-44CA8FE3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31720"/>
            <a:ext cx="6766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RQ3: 基于实证结果，应提出防御策略、增强攻击、还是安全合并指南？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284655B-DE07-494D-A3F5-CF9BDCD7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研究意义: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CV (BadMerging, CCS'24) 和 NLP (Merge Hijacking, ACL'25) 已研究合并后门，但扩散模型领域完全空白</a:t>
            </a:r>
          </a:p>
        </p:txBody>
      </p:sp>
    </p:spTree>
    <p:extLst>
      <p:ext uri="{BB962C8B-B14F-4D97-AF65-F5344CB8AC3E}">
        <p14:creationId xmlns:p14="http://schemas.microsoft.com/office/powerpoint/2010/main" val="13609968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7EF4286-CAC3-415E-BA58-E473154B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扩散模型后门攻击已高度成熟——EvilEdit 仅需 1 秒即可注入 100% ASR 后门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B56B34C-384C-4990-9B5C-4B133BD1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914400"/>
                <a:gridCol w="1371600"/>
                <a:gridCol w="73152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方法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会议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类型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ASR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时间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修改参数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EvilEdit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MM'24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Training-free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1秒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2.2%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BadDiffusion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CVPR'23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Training-based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~100%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数小时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TrojDiff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CVPR'23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Training-based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99.3%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数小时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RickRolling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ICCV'23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Text encoder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98.4%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100秒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Text enc.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VillanDiffusion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NeurIPS'23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Unified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~100%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数小时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C461309-9501-41E2-AEBB-0A77941D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822960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2700">
            <a:solidFill>
              <a:srgbClr val="E6C80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7C61AA0-D8F8-4F60-8614-ABC75E5B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7A5200"/>
                </a:solidFill>
                <a:latin typeface="Arial"/>
                <a:ea typeface="Arial"/>
                <a:cs typeface="Arial"/>
              </a:rPr>
              <a:t>关键洞察：Training-free (EvilEdit) 仅改 2.2% 参数 → 合并可能稀释；Training-based 改全部参数 → 可能更持久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A6BFE56-C31D-4745-A45D-6B78EC6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777777"/>
                </a:solidFill>
                <a:latin typeface="Arial"/>
                <a:ea typeface="Arial"/>
                <a:cs typeface="Arial"/>
              </a:rPr>
              <a:t>Chou et al. CVPR'23; Chen et al. CVPR'23; Wang et al. MM'24; Struppek et al. ICCV'23; Chou et al. NeurIPS'23</a:t>
            </a:r>
          </a:p>
        </p:txBody>
      </p:sp>
    </p:spTree>
    <p:extLst>
      <p:ext uri="{BB962C8B-B14F-4D97-AF65-F5344CB8AC3E}">
        <p14:creationId xmlns:p14="http://schemas.microsoft.com/office/powerpoint/2010/main" val="5846095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74272B-22A8-4ADF-91AA-BD841112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模型合并后门在 CV/NLP 已被研究，但扩散模型领域完全空白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9266B9-5384-4358-892D-44498EE9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2560320"/>
                <a:gridCol w="2286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领域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攻击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防御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状态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CV 分类器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BadMerging (CCS'24)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ASR 98%+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LFPM (ICML'26)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ASR→0.49%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攻防兼备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LLM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Merge Hijacking (ACL'25)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ASR 100%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Fine-pruning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(无效)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攻强防弱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扩散模型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???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???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完全空白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99A258D-C634-4381-93DD-426F2F7E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1840"/>
            <a:ext cx="64008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6947C7D-06FD-4FEC-94AC-63D902A4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383280"/>
            <a:ext cx="5852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研究空白：没有任何论文研究扩散模型后门在 LERP/SLERP/DARE/TIES 合并中的持久性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532C32-C4E2-43CF-B2D4-67733A31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777777"/>
                </a:solidFill>
                <a:latin typeface="Arial"/>
                <a:ea typeface="Arial"/>
                <a:cs typeface="Arial"/>
              </a:rPr>
              <a:t>Zhang et al. CCS'24; Yuan et al. ACL'25; Zhu et al. ICML'26</a:t>
            </a:r>
          </a:p>
        </p:txBody>
      </p:sp>
    </p:spTree>
    <p:extLst>
      <p:ext uri="{BB962C8B-B14F-4D97-AF65-F5344CB8AC3E}">
        <p14:creationId xmlns:p14="http://schemas.microsoft.com/office/powerpoint/2010/main" val="32890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3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31C019-7C86-41A7-9473-264FDFAA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7BAFD4"/>
                </a:solidFill>
                <a:latin typeface="Arial"/>
                <a:ea typeface="Arial"/>
                <a:cs typeface="Arial"/>
              </a:rPr>
              <a:t>Our Approach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8414E4-2BE2-4865-819B-FF7023D7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研究方法与可能方向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C9BDFB7-636B-480C-96D2-21829855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286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</p:spPr>
      </p:sp>
    </p:spTree>
    <p:extLst>
      <p:ext uri="{BB962C8B-B14F-4D97-AF65-F5344CB8AC3E}">
        <p14:creationId xmlns:p14="http://schemas.microsoft.com/office/powerpoint/2010/main" val="18898569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A1CE08-CC86-4311-B8D7-658F0F00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Phase 1（确定）：系统性实证——5种攻击 × 5种合并算法 × 多合并比例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695F85A-8442-4D0F-AEA2-A10AAEB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15C7DA-DD0D-4AAD-916E-27F9C7C6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实验矩阵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031F17-95F0-45A1-8357-A75E87DD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1148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攻击方法: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BadDiffusion, TrojDiff, EvilEdit, VillanDiffusion, RickRolling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合并算法: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LERP, SLERP, DARE, TIES, Task Arithmetic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合并比例: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α ∈ {0.1, 0.2, 0.3, 0.5, 0.7, 0.9}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迭代合并: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A+B→C, C+D→E（模拟社区传播链）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CDE9F5-6B07-4C57-B72D-8121F5E5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515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评估指标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6898757-578C-48E5-AE02-B301072B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ASR: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后门攻击成功率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FID: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生成质量（越低越好）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CLIP Score: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文本-图像一致性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LPIPS / SSIM: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后门目标相似度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FE0D796-6A00-4582-8DA7-905B8622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777777"/>
                </a:solidFill>
                <a:latin typeface="Arial"/>
                <a:ea typeface="Arial"/>
                <a:cs typeface="Arial"/>
              </a:rPr>
              <a:t>总计: 5 × 5 × 6 = 150+ 实验组合（合并操作秒级，主要成本在评估生成）</a:t>
            </a:r>
          </a:p>
        </p:txBody>
      </p:sp>
    </p:spTree>
    <p:extLst>
      <p:ext uri="{BB962C8B-B14F-4D97-AF65-F5344CB8AC3E}">
        <p14:creationId xmlns:p14="http://schemas.microsoft.com/office/powerpoint/2010/main" val="15615867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025D40-DA0D-4404-BE64-81F0633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方向 A：若后门存活合并 → 提出安全合并防御策略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23D24FC-C0DD-4908-B0D0-A7C40A4A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512BF00-4E80-43F9-AF90-10C6F5DB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3931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839B2FB-4B1A-48AA-B070-B33B38FF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7899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触发条件：ASR 合并后仍 &gt; 80%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75A7F1E-EEC0-480E-8329-8E1D4820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4208"/>
            <a:ext cx="52120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核心思路: </a:t>
            </a: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威胁已成立 → 防御更紧迫、审稿人更认可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可能的防御方案: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1. 安全合并比例推荐（基于 ASR 衰减曲线的临界阈值）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2. 合并前后门扫描（特征空间异常检测）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3. 借鉴 LFPM 特征子空间分离的对抗性合并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4. 合并后清洗（轻量级 fine-tuning 消除后门）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51D51F-C186-4A81-A78D-5D8CE6B2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0020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对标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1EF68C-FBE7-4D5A-90BA-7CC3C2B1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65960"/>
            <a:ext cx="30175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LFPM (ICML'26): </a:t>
            </a: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CV 分类器合并防御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ASR: 98.42% → 0.49%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CA 保持: 58.67%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我们的目标: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扩散模型版 LFPM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ASR &lt; 5%, FID 退化 &lt; 10%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FCA3F9-CF3D-4FFE-BE41-137ADA3A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777777"/>
                </a:solidFill>
                <a:latin typeface="Arial"/>
                <a:ea typeface="Arial"/>
                <a:cs typeface="Arial"/>
              </a:rPr>
              <a:t>Zhu et al. ICML'26 — LFPM: From Parameters to Feature Space</a:t>
            </a:r>
          </a:p>
        </p:txBody>
      </p:sp>
    </p:spTree>
    <p:extLst>
      <p:ext uri="{BB962C8B-B14F-4D97-AF65-F5344CB8AC3E}">
        <p14:creationId xmlns:p14="http://schemas.microsoft.com/office/powerpoint/2010/main" val="20949428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D1BEE4-C793-4E56-9A10-AFAED7B0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方向 B：若后门合并后失效 → 设计合并鲁棒的新攻击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22B54E-1FDC-4B9C-A76A-417DA1A2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76D220-4C0C-4004-9CAE-BB5D78D8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3931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2700">
            <a:solidFill>
              <a:srgbClr val="E67E2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2EB02F-17B0-45AC-BB84-B88D8E8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7899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67E22"/>
                </a:solidFill>
                <a:latin typeface="Arial"/>
                <a:ea typeface="Arial"/>
                <a:cs typeface="Arial"/>
              </a:rPr>
              <a:t>触发条件：ASR 合并后 &lt; 20%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37659F-F3BC-4F07-AF33-B39B5FA3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4208"/>
            <a:ext cx="52120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核心思路: </a:t>
            </a: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当前攻击不够强 → 合并鲁棒攻击更有价值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借鉴 BadMerging 的技术: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1. Feature-Interpolation (FI) Loss 覆盖整个合并插值路径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2. Rescaling 放大后门 vector（参考 Merge Hijacking λ=2.0）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3. 适配 EvilEdit 的 closed-form 编辑 + FI 约束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700">
                <a:solidFill>
                  <a:srgbClr val="2D2D2D"/>
                </a:solidFill>
                <a:latin typeface="Arial"/>
                <a:ea typeface="Arial"/>
                <a:cs typeface="Arial"/>
              </a:rPr>
              <a:t>4. 利用 task vector 正交性保证任务性能不退化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8E08F1-84AB-4FC2-B374-2F38D181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0020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对标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0FBDCBE-00D1-42DE-A0DA-ABCCE8DA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65960"/>
            <a:ext cx="30175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BadMerging (CCS'24): </a:t>
            </a: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CV 分类器合并攻击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On-task ASR: 98.14%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Off-task ASR: 96.28%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我们的目标: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扩散模型版 BadMerging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合并后 ASR &gt; 90%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FID 退化 &lt; 5%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6E47034-31CA-4F13-9C7D-FED4A27A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777777"/>
                </a:solidFill>
                <a:latin typeface="Arial"/>
                <a:ea typeface="Arial"/>
                <a:cs typeface="Arial"/>
              </a:rPr>
              <a:t>Zhang et al. CCS'24 — BadMerging; Yuan et al. ACL'25 — Merge Hijacking</a:t>
            </a:r>
          </a:p>
        </p:txBody>
      </p:sp>
    </p:spTree>
    <p:extLst>
      <p:ext uri="{BB962C8B-B14F-4D97-AF65-F5344CB8AC3E}">
        <p14:creationId xmlns:p14="http://schemas.microsoft.com/office/powerpoint/2010/main" val="15011254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6BC75F-0CA6-4489-95BB-91CAD04E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方向 C：纯实证基准 + 社区安全合并指南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F0F4D18-FDAD-4E2F-8297-3DB6DCF1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DD010F-ACC2-4536-A1B5-54773C8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393192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12700">
            <a:solidFill>
              <a:srgbClr val="27AE6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0FE8C8-DCCD-468A-855F-E18174A3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7899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7AE60"/>
                </a:solidFill>
                <a:latin typeface="Arial"/>
                <a:ea typeface="Arial"/>
                <a:cs typeface="Arial"/>
              </a:rPr>
              <a:t>触发条件：结果混合（某些攻击活、某些死）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1DE6F32-37B4-4455-B633-5C712E58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4208"/>
            <a:ext cx="502920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9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核心产出: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900">
                <a:solidFill>
                  <a:srgbClr val="2D2D2D"/>
                </a:solidFill>
                <a:latin typeface="Arial"/>
                <a:ea typeface="Arial"/>
                <a:cs typeface="Arial"/>
              </a:rPr>
              <a:t>1. 全面的 ASR 衰减矩阵（5攻击 × 5算法 × 6比例）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900">
                <a:solidFill>
                  <a:srgbClr val="2D2D2D"/>
                </a:solidFill>
                <a:latin typeface="Arial"/>
                <a:ea typeface="Arial"/>
                <a:cs typeface="Arial"/>
              </a:rPr>
              <a:t>2. 合并算法安全性排名（如 DARE &gt; TIES &gt; SLERP &gt; LERP）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900">
                <a:solidFill>
                  <a:srgbClr val="2D2D2D"/>
                </a:solidFill>
                <a:latin typeface="Arial"/>
                <a:ea typeface="Arial"/>
                <a:cs typeface="Arial"/>
              </a:rPr>
              <a:t>3. 攻击类型的合并鲁棒性分类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900">
                <a:solidFill>
                  <a:srgbClr val="2D2D2D"/>
                </a:solidFill>
                <a:latin typeface="Arial"/>
                <a:ea typeface="Arial"/>
                <a:cs typeface="Arial"/>
              </a:rPr>
              <a:t>4. 安全合并比例阈值建议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900">
                <a:solidFill>
                  <a:srgbClr val="2D2D2D"/>
                </a:solidFill>
                <a:latin typeface="Arial"/>
                <a:ea typeface="Arial"/>
                <a:cs typeface="Arial"/>
              </a:rPr>
              <a:t>5. 迭代合并的累积稀释效应分析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900">
                <a:solidFill>
                  <a:srgbClr val="2D2D2D"/>
                </a:solidFill>
                <a:latin typeface="Arial"/>
                <a:ea typeface="Arial"/>
                <a:cs typeface="Arial"/>
              </a:rPr>
              <a:t>6. 开源安全合并工具/插件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B6232A-B56E-461C-9353-9F4430EB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0020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优势与风险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7E99A2-2762-4031-9A07-CB197A6A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65960"/>
            <a:ext cx="30175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优势: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• 难度最低（纯实验）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• 高实践价值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• 可直接服务社区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5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风险: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• 天花板较低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• 缺乏技术贡献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500">
                <a:solidFill>
                  <a:srgbClr val="2D2D2D"/>
                </a:solidFill>
                <a:latin typeface="Arial"/>
                <a:ea typeface="Arial"/>
                <a:cs typeface="Arial"/>
              </a:rPr>
              <a:t>• 适合 Workshop/D&amp;B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F56E4DF-DC53-4AC1-A330-2BFA3601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777777"/>
                </a:solidFill>
                <a:latin typeface="Arial"/>
                <a:ea typeface="Arial"/>
                <a:cs typeface="Arial"/>
              </a:rPr>
              <a:t>对标: BackdoorDM (NeurIPS'25 D&amp;B Track)</a:t>
            </a:r>
          </a:p>
        </p:txBody>
      </p:sp>
    </p:spTree>
    <p:extLst>
      <p:ext uri="{BB962C8B-B14F-4D97-AF65-F5344CB8AC3E}">
        <p14:creationId xmlns:p14="http://schemas.microsoft.com/office/powerpoint/2010/main" val="15265243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80DB57-4250-4D9C-ACFA-CD2C71A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三个方向的选择取决于 Phase 1 实验结果——1-2 天即可判定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D7A5E5B-7AB8-43FD-A870-A600FAB3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维度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A. 防御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B. 攻击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C. 纯实证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触发条件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ASR &gt; 80%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ASR &lt; 20%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结果混合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技术难度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★★★☆☆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★★★☆☆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★☆☆☆☆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新颖性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★★★★☆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★★★★☆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★★★☆☆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目标会议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USENIX/NDSS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CCS/USENIX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NeurIPS D&amp;B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周期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8-10 周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8-10 周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6-8 周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实践价值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高（安全指南）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高（揭示威胁）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中（基准）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审稿接受度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最高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高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中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178FC77-2E9A-4720-9591-84D463A0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822960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2700">
            <a:solidFill>
              <a:srgbClr val="E6C80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FAD213A-821D-453F-B031-4B705563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33672"/>
            <a:ext cx="7863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7A5200"/>
                </a:solidFill>
                <a:latin typeface="Arial"/>
                <a:ea typeface="Arial"/>
                <a:cs typeface="Arial"/>
              </a:rPr>
              <a:t>建议策略：先跑 Phase 1 快速实验（1-2天），根据 ASR 衰减数据选定后续方向</a:t>
            </a:r>
          </a:p>
        </p:txBody>
      </p:sp>
    </p:spTree>
    <p:extLst>
      <p:ext uri="{BB962C8B-B14F-4D97-AF65-F5344CB8AC3E}">
        <p14:creationId xmlns:p14="http://schemas.microsoft.com/office/powerpoint/2010/main" val="647856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AB0847D-922E-4E06-B461-424FAB4A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3090 (24GB) 完全满足所有实验需求——合并操作本身仅需 CPU 秒级完成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093B89-9E9C-4C56-81DF-1CCDF23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188720"/>
                <a:gridCol w="914400"/>
                <a:gridCol w="36576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实验环节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显存需求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时间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工具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EvilEdit 注入后门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~5 GB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1 秒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github.com/haowang-cqu/EvilEdit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BadDiffusion 训练后门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~10-14 GB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数小时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github.com/IBM/BadDiffusion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LERP/SLERP 合并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CPU only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秒级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sd-meh / supermerger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DARE/TIES 合并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CPU only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秒级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mergekit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生成评估 (FID/CLIP)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~5 GB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分钟级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</a:rPr>
                        <a:t>torch-fidelity / open_clip</a:t>
                      </a:r>
                    </a:p>
                  </a:txBody>
                  <a:tcPr marL="91440" marR="91440" marT="45720" marB="45720">
                    <a:lnL w="6350" cmpd="sng">
                      <a:solidFill>
                        <a:srgbClr val="CCCCCC"/>
                      </a:solidFill>
                      <a:prstDash val="solid"/>
                    </a:lnL>
                    <a:lnR w="6350" cmpd="sng">
                      <a:solidFill>
                        <a:srgbClr val="CCCCCC"/>
                      </a:solidFill>
                      <a:prstDash val="solid"/>
                    </a:lnR>
                    <a:lnT w="6350" cmpd="sng">
                      <a:solidFill>
                        <a:srgbClr val="CCCCCC"/>
                      </a:solidFill>
                      <a:prstDash val="solid"/>
                    </a:lnT>
                    <a:lnB w="635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027F30-0E1A-4B9B-979F-999D3582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3280"/>
            <a:ext cx="8229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Quick Win: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EvilEdit (1秒注入) + LERP 合并 (秒级) + 生成评估 → 1 天内可获得第一组 ASR 衰减数据</a:t>
            </a:r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开源工具: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11/15 相关论文已开源代码，无需从零实现</a:t>
            </a:r>
          </a:p>
        </p:txBody>
      </p:sp>
    </p:spTree>
    <p:extLst>
      <p:ext uri="{BB962C8B-B14F-4D97-AF65-F5344CB8AC3E}">
        <p14:creationId xmlns:p14="http://schemas.microsoft.com/office/powerpoint/2010/main" val="73852056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FC5AEC-CB55-4C1F-A5F5-87091D4E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预期贡献：首个扩散模型合并后门安全性研究，填补明确的研究空白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BDEA685-5D9A-4A30-A909-B3599194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CC59DF-30E0-46CE-9E97-BDB20F3A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1. 首个系统性实证: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5种后门攻击 × 5种合并算法的完整 ASR 衰减矩阵，揭示扩散模型特有的合并-后门交互规律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2. 反直觉发现（预期）: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如 SLERP 可能比 LERP 保留更高 ASR；DARE 的稀疏化可能意外保护后门关键参数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3. 技术贡献（取决于方向）: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安全合并防御 / 合并鲁棒攻击 / 安全合并工具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4. 实践价值: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直接服务 CivitAI/HuggingFace 社区，可发布为开源安全审计插件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2D2D2D"/>
                </a:solidFill>
                <a:latin typeface="Arial"/>
                <a:ea typeface="Arial"/>
                <a:cs typeface="Arial"/>
              </a:rPr>
              <a:t>5. 开源基准: </a:t>
            </a:r>
            <a:r>
              <a:rPr sz="1800">
                <a:solidFill>
                  <a:srgbClr val="2D2D2D"/>
                </a:solidFill>
                <a:latin typeface="Arial"/>
                <a:ea typeface="Arial"/>
                <a:cs typeface="Arial"/>
              </a:rPr>
              <a:t>发布全部实验代码、后门检查点和评估脚本，支持后续研究</a:t>
            </a:r>
          </a:p>
        </p:txBody>
      </p:sp>
    </p:spTree>
    <p:extLst>
      <p:ext uri="{BB962C8B-B14F-4D97-AF65-F5344CB8AC3E}">
        <p14:creationId xmlns:p14="http://schemas.microsoft.com/office/powerpoint/2010/main" val="7697720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F4E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F87360-9220-48D1-B3B9-4E9DBCBC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>
                <a:solidFill>
                  <a:srgbClr val="A0BBDD"/>
                </a:solidFill>
                <a:latin typeface="Arial"/>
                <a:ea typeface="Arial"/>
                <a:cs typeface="Arial"/>
              </a:rPr>
              <a:t>Conclusions &amp; Next Steps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1AFB66A-A8C6-4F13-9BCC-4617E93C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A8E508-C81E-4FF2-80B0-E3965DB7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1600"/>
              </a:spcAft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研究空白明确: </a:t>
            </a:r>
            <a:r>
              <a:rPr sz="1900">
                <a:solidFill>
                  <a:srgbClr val="FFFFFF"/>
                </a:solidFill>
                <a:latin typeface="Arial"/>
                <a:ea typeface="Arial"/>
                <a:cs typeface="Arial"/>
              </a:rPr>
              <a:t>扩散模型后门 × 检查点合并 = 零已有工作，CV/NLP 领域已有成熟对标（BadMerging, Merge Hijacking, LFPM）</a:t>
            </a:r>
          </a:p>
          <a:p xmlns:a="http://schemas.openxmlformats.org/drawingml/2006/main">
            <a:pPr marL="0" indent="0">
              <a:spcAft>
                <a:spcPts val="1600"/>
              </a:spcAft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方法路线清晰: </a:t>
            </a:r>
            <a:r>
              <a:rPr sz="190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1 系统性实证（确定） → Phase 2 根据结果选择防御/攻击/纯实证方向</a:t>
            </a:r>
          </a:p>
          <a:p xmlns:a="http://schemas.openxmlformats.org/drawingml/2006/main">
            <a:pPr marL="0" indent="0">
              <a:spcAft>
                <a:spcPts val="1600"/>
              </a:spcAft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可行性已验证: </a:t>
            </a:r>
            <a:r>
              <a:rPr sz="1900">
                <a:solidFill>
                  <a:srgbClr val="FFFFFF"/>
                </a:solidFill>
                <a:latin typeface="Arial"/>
                <a:ea typeface="Arial"/>
                <a:cs typeface="Arial"/>
              </a:rPr>
              <a:t>3090 足够，11 个开源代码库可用，1-2 天出初步结果</a:t>
            </a:r>
          </a:p>
          <a:p xmlns:a="http://schemas.openxmlformats.org/drawingml/2006/main">
            <a:pPr marL="0" indent="0">
              <a:spcAft>
                <a:spcPts val="1600"/>
              </a:spcAft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时间线: </a:t>
            </a:r>
            <a:r>
              <a:rPr sz="1900">
                <a:solidFill>
                  <a:srgbClr val="FFFFFF"/>
                </a:solidFill>
                <a:latin typeface="Arial"/>
                <a:ea typeface="Arial"/>
                <a:cs typeface="Arial"/>
              </a:rPr>
              <a:t>6-8 周完成全部实验和论文写作，目标 USENIX Security / NDSS / CCS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BDDE0A-E379-43A1-9B51-149303EF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A0BBDD"/>
                </a:solidFill>
                <a:latin typeface="Arial"/>
                <a:ea typeface="Arial"/>
                <a:cs typeface="Arial"/>
              </a:rPr>
              <a:t>Next Step: 本周内完成 EvilEdit + LERP/SLERP 的初步 ASR 衰减实验 → 确定论文方向</a:t>
            </a:r>
          </a:p>
        </p:txBody>
      </p:sp>
    </p:spTree>
    <p:extLst>
      <p:ext uri="{BB962C8B-B14F-4D97-AF65-F5344CB8AC3E}">
        <p14:creationId xmlns:p14="http://schemas.microsoft.com/office/powerpoint/2010/main" val="9654595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2355F0-91DA-4FFE-8881-A9AB707F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B1D906D-B971-4482-AE53-5202BBCD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368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E03A5E-1B4E-4C89-BD4F-4188BD9D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[1] Zhang et al. BadMerging: Backdoor Attacks Against Model Merging. CCS 2024.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[2] Yuan et al. Merge Hijacking: Backdoor Attacks to Model Merging of LLMs. ACL 2025.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[3] Zhu et al. LFPM: From Parameters to Feature Space. ICML 2026.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[4] Lin et al. BackdoorDM: Comprehensive Benchmark. arXiv 2025.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[5] Chou et al. BadDiffusion: How to Backdoor Diffusion Models? CVPR 2023.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[6] Chen et al. TrojDiff: Trojan Attacks on Diffusion Models. CVPR 2023.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[7] Wang et al. EvilEdit: Backdooring T2I in One Second. ACM MM 2024.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[8] Chou et al. VillanDiffusion: Unified Backdoor Attack Framework. NeurIPS 2023.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2D2D2D"/>
                </a:solidFill>
                <a:latin typeface="Arial"/>
                <a:ea typeface="Arial"/>
                <a:cs typeface="Arial"/>
              </a:rPr>
              <a:t>[9] Struppek et al. Rickrolling the Artist: Injecting Backdoors into Text Encoders. ICCV 2023.</a:t>
            </a:r>
          </a:p>
        </p:txBody>
      </p:sp>
    </p:spTree>
    <p:extLst>
      <p:ext uri="{BB962C8B-B14F-4D97-AF65-F5344CB8AC3E}">
        <p14:creationId xmlns:p14="http://schemas.microsoft.com/office/powerpoint/2010/main" val="12191378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2026-07-24T02:33:09.9500000Z</dcterms:created>
  <dcterms:modified xsi:type="dcterms:W3CDTF">2026-07-24T02:33:09.9500000Z</dcterms:modified>
</coreProperties>
</file>